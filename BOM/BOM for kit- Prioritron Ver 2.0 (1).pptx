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10440000" cx="7560000"/>
  <p:notesSz cx="6858000" cy="9144000"/>
  <p:embeddedFontLst>
    <p:embeddedFont>
      <p:font typeface="Comfortaa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8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6CFCEC-2352-4FE9-9010-3EB8D92D55AB}">
  <a:tblStyle styleId="{606CFCEC-2352-4FE9-9010-3EB8D92D55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41E79A8-1AB0-4665-A148-D0D1B94522D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88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Comfortaa-bold.fntdata"/><Relationship Id="rId12" Type="http://schemas.openxmlformats.org/officeDocument/2006/relationships/font" Target="fonts/Comforta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87788" y="685800"/>
            <a:ext cx="2483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87788" y="685800"/>
            <a:ext cx="2483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SLIDES_API267100862_0:notes"/>
          <p:cNvSpPr/>
          <p:nvPr>
            <p:ph idx="2" type="sldImg"/>
          </p:nvPr>
        </p:nvSpPr>
        <p:spPr>
          <a:xfrm>
            <a:off x="2187788" y="685800"/>
            <a:ext cx="2483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SLIDES_API26710086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34da50390_0_3:notes"/>
          <p:cNvSpPr/>
          <p:nvPr>
            <p:ph idx="2" type="sldImg"/>
          </p:nvPr>
        </p:nvSpPr>
        <p:spPr>
          <a:xfrm>
            <a:off x="2187788" y="685800"/>
            <a:ext cx="2483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34da5039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34da50390_0_12:notes"/>
          <p:cNvSpPr/>
          <p:nvPr>
            <p:ph idx="2" type="sldImg"/>
          </p:nvPr>
        </p:nvSpPr>
        <p:spPr>
          <a:xfrm>
            <a:off x="2187788" y="685800"/>
            <a:ext cx="2483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34da5039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7441dd60d_0_5:notes"/>
          <p:cNvSpPr/>
          <p:nvPr>
            <p:ph idx="2" type="sldImg"/>
          </p:nvPr>
        </p:nvSpPr>
        <p:spPr>
          <a:xfrm>
            <a:off x="2187788" y="685800"/>
            <a:ext cx="2483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7441dd6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1511298"/>
            <a:ext cx="7044600" cy="416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5752555"/>
            <a:ext cx="7044600" cy="16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4365680"/>
            <a:ext cx="7044600" cy="17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903288"/>
            <a:ext cx="70446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2339232"/>
            <a:ext cx="7044600" cy="6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903288"/>
            <a:ext cx="70446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2339232"/>
            <a:ext cx="3306900" cy="6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2339232"/>
            <a:ext cx="3306900" cy="6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903288"/>
            <a:ext cx="70446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1127727"/>
            <a:ext cx="2321700" cy="153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2820535"/>
            <a:ext cx="2321700" cy="64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913690"/>
            <a:ext cx="5264700" cy="830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54"/>
            <a:ext cx="3780000" cy="104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2503032"/>
            <a:ext cx="3344400" cy="300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5689531"/>
            <a:ext cx="3344400" cy="25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1469689"/>
            <a:ext cx="3172200" cy="75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8586994"/>
            <a:ext cx="4959600" cy="122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2245153"/>
            <a:ext cx="7044600" cy="398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6398217"/>
            <a:ext cx="7044600" cy="26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03288"/>
            <a:ext cx="70446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39232"/>
            <a:ext cx="7044600" cy="6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465147"/>
            <a:ext cx="4536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150925" y="43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{606CFCEC-2352-4FE9-9010-3EB8D92D55AB}</a:tableStyleId>
              </a:tblPr>
              <a:tblGrid>
                <a:gridCol w="2419375"/>
                <a:gridCol w="2419375"/>
                <a:gridCol w="2419375"/>
              </a:tblGrid>
              <a:tr h="200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Ceramic Capacitor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100nF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5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100nF (104)</a:t>
                      </a:r>
                      <a:endParaRPr b="1" sz="10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Ceramic Capacitor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10nF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1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10nF (103)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Electrolytic Capacitor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100uF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1</a:t>
                      </a:r>
                      <a:r>
                        <a:rPr b="1" lang="en-GB" sz="10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 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100uF</a:t>
                      </a:r>
                      <a:endParaRPr b="1" sz="10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  <a:tr h="193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Ceramic Capacitor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4.7nF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1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4.7nF (472)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Monolithic Capacitor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10uF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2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10uF (106)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jack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Clock_IN, Clock_OUT, Audio Out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3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Jack Socket</a:t>
                      </a:r>
                      <a:endParaRPr b="1" sz="10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"Headphone" socket</a:t>
                      </a:r>
                      <a:endParaRPr b="1" sz="10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  <a:tr h="193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JST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JST 2P JST PH 2.0 Female 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1 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JST 2P JST PH 2.0 Female 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Resistor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100K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1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100K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Resistor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10K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6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10K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  <a:tr h="193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Resistor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330R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2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330R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Resistor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2K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5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2K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RK097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50K Pot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2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50K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  <a:tr h="193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RK097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10K Pot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1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10K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tactile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12x12 Tactile Switch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1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12x12 Tactile Switch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RK097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RotaryEncoder_Switch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FFFF00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1</a:t>
                      </a:r>
                      <a:endParaRPr b="1" sz="1000">
                        <a:highlight>
                          <a:srgbClr val="FFFF00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</a:t>
                      </a:r>
                      <a:endParaRPr b="1" sz="10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5" name="Google Shape;55;p13"/>
          <p:cNvSpPr txBox="1"/>
          <p:nvPr/>
        </p:nvSpPr>
        <p:spPr>
          <a:xfrm>
            <a:off x="77100" y="-1"/>
            <a:ext cx="740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highlight>
                  <a:schemeClr val="dk1"/>
                </a:highlight>
                <a:latin typeface="Comfortaa"/>
                <a:ea typeface="Comfortaa"/>
                <a:cs typeface="Comfortaa"/>
                <a:sym typeface="Comfortaa"/>
              </a:rPr>
              <a:t>Bill of Materials: </a:t>
            </a:r>
            <a:r>
              <a:rPr b="1" lang="en-GB" sz="2000">
                <a:solidFill>
                  <a:schemeClr val="lt1"/>
                </a:solidFill>
                <a:highlight>
                  <a:schemeClr val="dk1"/>
                </a:highlight>
                <a:latin typeface="Comfortaa"/>
                <a:ea typeface="Comfortaa"/>
                <a:cs typeface="Comfortaa"/>
                <a:sym typeface="Comfortaa"/>
              </a:rPr>
              <a:t>Prioritron Ver 2.0</a:t>
            </a:r>
            <a:endParaRPr b="1" sz="2000">
              <a:solidFill>
                <a:schemeClr val="lt1"/>
              </a:solidFill>
              <a:highlight>
                <a:schemeClr val="dk1"/>
              </a:highlight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1170113" y="1388075"/>
            <a:ext cx="381000" cy="571400"/>
            <a:chOff x="1170113" y="1388075"/>
            <a:chExt cx="381000" cy="571400"/>
          </a:xfrm>
        </p:grpSpPr>
        <p:sp>
          <p:nvSpPr>
            <p:cNvPr id="57" name="Google Shape;57;p13"/>
            <p:cNvSpPr/>
            <p:nvPr/>
          </p:nvSpPr>
          <p:spPr>
            <a:xfrm>
              <a:off x="1233613" y="1642075"/>
              <a:ext cx="50700" cy="317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1462213" y="1642075"/>
              <a:ext cx="50700" cy="317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170113" y="1388075"/>
              <a:ext cx="381000" cy="381000"/>
            </a:xfrm>
            <a:prstGeom prst="ellipse">
              <a:avLst/>
            </a:prstGeom>
            <a:solidFill>
              <a:srgbClr val="CD7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 txBox="1"/>
            <p:nvPr/>
          </p:nvSpPr>
          <p:spPr>
            <a:xfrm>
              <a:off x="1170113" y="1489675"/>
              <a:ext cx="3810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FFFFFF"/>
                  </a:solidFill>
                </a:rPr>
                <a:t>104</a:t>
              </a:r>
              <a:endParaRPr b="1" sz="800">
                <a:solidFill>
                  <a:srgbClr val="FFFFFF"/>
                </a:solidFill>
              </a:endParaRPr>
            </a:p>
          </p:txBody>
        </p:sp>
      </p:grpSp>
      <p:grpSp>
        <p:nvGrpSpPr>
          <p:cNvPr id="61" name="Google Shape;61;p13"/>
          <p:cNvGrpSpPr/>
          <p:nvPr/>
        </p:nvGrpSpPr>
        <p:grpSpPr>
          <a:xfrm>
            <a:off x="3589488" y="1388075"/>
            <a:ext cx="381000" cy="571400"/>
            <a:chOff x="3589488" y="1388075"/>
            <a:chExt cx="381000" cy="571400"/>
          </a:xfrm>
        </p:grpSpPr>
        <p:sp>
          <p:nvSpPr>
            <p:cNvPr id="62" name="Google Shape;62;p13"/>
            <p:cNvSpPr/>
            <p:nvPr/>
          </p:nvSpPr>
          <p:spPr>
            <a:xfrm>
              <a:off x="3652988" y="1642075"/>
              <a:ext cx="50700" cy="317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881588" y="1642075"/>
              <a:ext cx="50700" cy="317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3589488" y="1388075"/>
              <a:ext cx="381000" cy="381000"/>
            </a:xfrm>
            <a:prstGeom prst="ellipse">
              <a:avLst/>
            </a:prstGeom>
            <a:solidFill>
              <a:srgbClr val="CD7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 txBox="1"/>
            <p:nvPr/>
          </p:nvSpPr>
          <p:spPr>
            <a:xfrm>
              <a:off x="3589488" y="1489675"/>
              <a:ext cx="3810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FFFFFF"/>
                  </a:solidFill>
                </a:rPr>
                <a:t>103</a:t>
              </a:r>
              <a:endParaRPr b="1" sz="800">
                <a:solidFill>
                  <a:srgbClr val="FFFFFF"/>
                </a:solidFill>
              </a:endParaRPr>
            </a:p>
          </p:txBody>
        </p:sp>
      </p:grpSp>
      <p:grpSp>
        <p:nvGrpSpPr>
          <p:cNvPr id="66" name="Google Shape;66;p13"/>
          <p:cNvGrpSpPr/>
          <p:nvPr/>
        </p:nvGrpSpPr>
        <p:grpSpPr>
          <a:xfrm>
            <a:off x="5945463" y="1387975"/>
            <a:ext cx="380800" cy="825700"/>
            <a:chOff x="5945463" y="1387975"/>
            <a:chExt cx="380800" cy="825700"/>
          </a:xfrm>
        </p:grpSpPr>
        <p:sp>
          <p:nvSpPr>
            <p:cNvPr id="67" name="Google Shape;67;p13"/>
            <p:cNvSpPr/>
            <p:nvPr/>
          </p:nvSpPr>
          <p:spPr>
            <a:xfrm>
              <a:off x="6085063" y="1769075"/>
              <a:ext cx="50700" cy="4446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212063" y="1769075"/>
              <a:ext cx="50700" cy="2541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6008863" y="1388075"/>
              <a:ext cx="317400" cy="4446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6186663" y="1388075"/>
              <a:ext cx="114300" cy="444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 txBox="1"/>
            <p:nvPr/>
          </p:nvSpPr>
          <p:spPr>
            <a:xfrm rot="-5400000">
              <a:off x="5881863" y="1451575"/>
              <a:ext cx="4446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FFFFFF"/>
                  </a:solidFill>
                </a:rPr>
                <a:t>100uF</a:t>
              </a:r>
              <a:endParaRPr b="1" sz="800">
                <a:solidFill>
                  <a:srgbClr val="FFFFFF"/>
                </a:solidFill>
              </a:endParaRPr>
            </a:p>
          </p:txBody>
        </p:sp>
      </p:grpSp>
      <p:grpSp>
        <p:nvGrpSpPr>
          <p:cNvPr id="72" name="Google Shape;72;p13"/>
          <p:cNvGrpSpPr/>
          <p:nvPr/>
        </p:nvGrpSpPr>
        <p:grpSpPr>
          <a:xfrm>
            <a:off x="1170113" y="3397850"/>
            <a:ext cx="381000" cy="571400"/>
            <a:chOff x="1170113" y="3397850"/>
            <a:chExt cx="381000" cy="571400"/>
          </a:xfrm>
        </p:grpSpPr>
        <p:sp>
          <p:nvSpPr>
            <p:cNvPr id="73" name="Google Shape;73;p13"/>
            <p:cNvSpPr/>
            <p:nvPr/>
          </p:nvSpPr>
          <p:spPr>
            <a:xfrm>
              <a:off x="1233613" y="3651850"/>
              <a:ext cx="50700" cy="317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1462213" y="3651850"/>
              <a:ext cx="50700" cy="317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1170113" y="3397850"/>
              <a:ext cx="381000" cy="381000"/>
            </a:xfrm>
            <a:prstGeom prst="ellipse">
              <a:avLst/>
            </a:prstGeom>
            <a:solidFill>
              <a:srgbClr val="CD7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 txBox="1"/>
            <p:nvPr/>
          </p:nvSpPr>
          <p:spPr>
            <a:xfrm>
              <a:off x="1170113" y="3499450"/>
              <a:ext cx="3810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FFFFFF"/>
                  </a:solidFill>
                </a:rPr>
                <a:t>472</a:t>
              </a:r>
              <a:endParaRPr b="1" sz="800">
                <a:solidFill>
                  <a:srgbClr val="FFFFFF"/>
                </a:solidFill>
              </a:endParaRPr>
            </a:p>
          </p:txBody>
        </p:sp>
      </p:grpSp>
      <p:grpSp>
        <p:nvGrpSpPr>
          <p:cNvPr id="77" name="Google Shape;77;p13"/>
          <p:cNvGrpSpPr/>
          <p:nvPr/>
        </p:nvGrpSpPr>
        <p:grpSpPr>
          <a:xfrm>
            <a:off x="3525988" y="3270850"/>
            <a:ext cx="558700" cy="723800"/>
            <a:chOff x="3525988" y="3270850"/>
            <a:chExt cx="558700" cy="723800"/>
          </a:xfrm>
        </p:grpSpPr>
        <p:sp>
          <p:nvSpPr>
            <p:cNvPr id="78" name="Google Shape;78;p13"/>
            <p:cNvSpPr/>
            <p:nvPr/>
          </p:nvSpPr>
          <p:spPr>
            <a:xfrm>
              <a:off x="3525988" y="3677250"/>
              <a:ext cx="50700" cy="317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4033988" y="3677250"/>
              <a:ext cx="50700" cy="317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3589488" y="3270850"/>
              <a:ext cx="406500" cy="317400"/>
            </a:xfrm>
            <a:prstGeom prst="ellipse">
              <a:avLst/>
            </a:prstGeom>
            <a:solidFill>
              <a:srgbClr val="FFB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3564088" y="3461350"/>
              <a:ext cx="457200" cy="228600"/>
            </a:xfrm>
            <a:prstGeom prst="roundRect">
              <a:avLst>
                <a:gd fmla="val 16667" name="adj"/>
              </a:avLst>
            </a:prstGeom>
            <a:solidFill>
              <a:srgbClr val="FFB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 txBox="1"/>
            <p:nvPr/>
          </p:nvSpPr>
          <p:spPr>
            <a:xfrm>
              <a:off x="3589488" y="3448650"/>
              <a:ext cx="4065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5D4037"/>
                  </a:solidFill>
                </a:rPr>
                <a:t>106</a:t>
              </a:r>
              <a:endParaRPr b="1" sz="1000">
                <a:solidFill>
                  <a:srgbClr val="5D4037"/>
                </a:solidFill>
              </a:endParaRPr>
            </a:p>
          </p:txBody>
        </p:sp>
      </p:grpSp>
      <p:grpSp>
        <p:nvGrpSpPr>
          <p:cNvPr id="83" name="Google Shape;83;p13"/>
          <p:cNvGrpSpPr/>
          <p:nvPr/>
        </p:nvGrpSpPr>
        <p:grpSpPr>
          <a:xfrm>
            <a:off x="5869163" y="3423250"/>
            <a:ext cx="381000" cy="508100"/>
            <a:chOff x="5869163" y="3423250"/>
            <a:chExt cx="381000" cy="508100"/>
          </a:xfrm>
        </p:grpSpPr>
        <p:sp>
          <p:nvSpPr>
            <p:cNvPr id="84" name="Google Shape;84;p13"/>
            <p:cNvSpPr/>
            <p:nvPr/>
          </p:nvSpPr>
          <p:spPr>
            <a:xfrm>
              <a:off x="6021563" y="3423250"/>
              <a:ext cx="152400" cy="1017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21563" y="3829650"/>
              <a:ext cx="38100" cy="1017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6135863" y="3829650"/>
              <a:ext cx="38100" cy="1017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869163" y="3461350"/>
              <a:ext cx="152400" cy="381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869163" y="3461350"/>
              <a:ext cx="38100" cy="4698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945363" y="3524850"/>
              <a:ext cx="304800" cy="3048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" name="Google Shape;90;p13"/>
          <p:cNvGrpSpPr/>
          <p:nvPr/>
        </p:nvGrpSpPr>
        <p:grpSpPr>
          <a:xfrm>
            <a:off x="1106613" y="5457525"/>
            <a:ext cx="304800" cy="406400"/>
            <a:chOff x="1106613" y="5457525"/>
            <a:chExt cx="304800" cy="406400"/>
          </a:xfrm>
        </p:grpSpPr>
        <p:sp>
          <p:nvSpPr>
            <p:cNvPr id="91" name="Google Shape;91;p13"/>
            <p:cNvSpPr/>
            <p:nvPr/>
          </p:nvSpPr>
          <p:spPr>
            <a:xfrm>
              <a:off x="1106613" y="5457525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254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1170113" y="5559125"/>
              <a:ext cx="50700" cy="304800"/>
            </a:xfrm>
            <a:prstGeom prst="rect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1297113" y="5559125"/>
              <a:ext cx="50700" cy="304800"/>
            </a:xfrm>
            <a:prstGeom prst="rect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3081488" y="5330525"/>
            <a:ext cx="1397100" cy="330300"/>
            <a:chOff x="3081488" y="5330525"/>
            <a:chExt cx="1397100" cy="330300"/>
          </a:xfrm>
        </p:grpSpPr>
        <p:sp>
          <p:nvSpPr>
            <p:cNvPr id="95" name="Google Shape;95;p13"/>
            <p:cNvSpPr/>
            <p:nvPr/>
          </p:nvSpPr>
          <p:spPr>
            <a:xfrm>
              <a:off x="3081488" y="5470225"/>
              <a:ext cx="254100" cy="507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4224488" y="5470225"/>
              <a:ext cx="254100" cy="507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3271988" y="5330525"/>
              <a:ext cx="355500" cy="330300"/>
            </a:xfrm>
            <a:prstGeom prst="ellipse">
              <a:avLst/>
            </a:prstGeom>
            <a:solidFill>
              <a:srgbClr val="4FB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932388" y="5330525"/>
              <a:ext cx="355500" cy="330300"/>
            </a:xfrm>
            <a:prstGeom prst="ellipse">
              <a:avLst/>
            </a:prstGeom>
            <a:solidFill>
              <a:srgbClr val="4FB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3449788" y="5368625"/>
              <a:ext cx="660300" cy="254100"/>
            </a:xfrm>
            <a:prstGeom prst="rect">
              <a:avLst/>
            </a:prstGeom>
            <a:solidFill>
              <a:srgbClr val="4FB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3373588" y="5330525"/>
              <a:ext cx="76200" cy="330300"/>
            </a:xfrm>
            <a:prstGeom prst="rect">
              <a:avLst/>
            </a:prstGeom>
            <a:solidFill>
              <a:srgbClr val="964B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3557738" y="5368625"/>
              <a:ext cx="76200" cy="254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3741888" y="5368625"/>
              <a:ext cx="76200" cy="254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3926038" y="5368625"/>
              <a:ext cx="76200" cy="254100"/>
            </a:xfrm>
            <a:prstGeom prst="rect">
              <a:avLst/>
            </a:prstGeom>
            <a:solidFill>
              <a:srgbClr val="FFA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4110188" y="5330525"/>
              <a:ext cx="76200" cy="330300"/>
            </a:xfrm>
            <a:prstGeom prst="rect">
              <a:avLst/>
            </a:prstGeom>
            <a:solidFill>
              <a:srgbClr val="964B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5500863" y="5330525"/>
            <a:ext cx="1397100" cy="330300"/>
            <a:chOff x="5500863" y="5330525"/>
            <a:chExt cx="1397100" cy="330300"/>
          </a:xfrm>
        </p:grpSpPr>
        <p:sp>
          <p:nvSpPr>
            <p:cNvPr id="106" name="Google Shape;106;p13"/>
            <p:cNvSpPr/>
            <p:nvPr/>
          </p:nvSpPr>
          <p:spPr>
            <a:xfrm>
              <a:off x="5500863" y="5470225"/>
              <a:ext cx="254100" cy="507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6643863" y="5470225"/>
              <a:ext cx="254100" cy="507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691363" y="5330525"/>
              <a:ext cx="355500" cy="330300"/>
            </a:xfrm>
            <a:prstGeom prst="ellipse">
              <a:avLst/>
            </a:prstGeom>
            <a:solidFill>
              <a:srgbClr val="4FB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351763" y="5330525"/>
              <a:ext cx="355500" cy="330300"/>
            </a:xfrm>
            <a:prstGeom prst="ellipse">
              <a:avLst/>
            </a:prstGeom>
            <a:solidFill>
              <a:srgbClr val="4FB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869163" y="5368625"/>
              <a:ext cx="660300" cy="254100"/>
            </a:xfrm>
            <a:prstGeom prst="rect">
              <a:avLst/>
            </a:prstGeom>
            <a:solidFill>
              <a:srgbClr val="4FB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5792963" y="5330525"/>
              <a:ext cx="76200" cy="330300"/>
            </a:xfrm>
            <a:prstGeom prst="rect">
              <a:avLst/>
            </a:prstGeom>
            <a:solidFill>
              <a:srgbClr val="964B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977113" y="5368625"/>
              <a:ext cx="76200" cy="254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6161263" y="5368625"/>
              <a:ext cx="76200" cy="254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345413" y="5368625"/>
              <a:ext cx="76200" cy="2541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6529563" y="5330525"/>
              <a:ext cx="76200" cy="330300"/>
            </a:xfrm>
            <a:prstGeom prst="rect">
              <a:avLst/>
            </a:prstGeom>
            <a:solidFill>
              <a:srgbClr val="964B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" name="Google Shape;116;p13"/>
          <p:cNvGrpSpPr/>
          <p:nvPr/>
        </p:nvGrpSpPr>
        <p:grpSpPr>
          <a:xfrm>
            <a:off x="662113" y="7263200"/>
            <a:ext cx="1397100" cy="330300"/>
            <a:chOff x="662113" y="7263200"/>
            <a:chExt cx="1397100" cy="330300"/>
          </a:xfrm>
        </p:grpSpPr>
        <p:sp>
          <p:nvSpPr>
            <p:cNvPr id="117" name="Google Shape;117;p13"/>
            <p:cNvSpPr/>
            <p:nvPr/>
          </p:nvSpPr>
          <p:spPr>
            <a:xfrm>
              <a:off x="662113" y="7402900"/>
              <a:ext cx="254100" cy="507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1805113" y="7402900"/>
              <a:ext cx="254100" cy="507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852613" y="7263200"/>
              <a:ext cx="355500" cy="330300"/>
            </a:xfrm>
            <a:prstGeom prst="ellipse">
              <a:avLst/>
            </a:prstGeom>
            <a:solidFill>
              <a:srgbClr val="4FB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1513013" y="7263200"/>
              <a:ext cx="355500" cy="330300"/>
            </a:xfrm>
            <a:prstGeom prst="ellipse">
              <a:avLst/>
            </a:prstGeom>
            <a:solidFill>
              <a:srgbClr val="4FB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1030413" y="7301300"/>
              <a:ext cx="660300" cy="254100"/>
            </a:xfrm>
            <a:prstGeom prst="rect">
              <a:avLst/>
            </a:prstGeom>
            <a:solidFill>
              <a:srgbClr val="4FB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954213" y="7263200"/>
              <a:ext cx="76200" cy="330300"/>
            </a:xfrm>
            <a:prstGeom prst="rect">
              <a:avLst/>
            </a:prstGeom>
            <a:solidFill>
              <a:srgbClr val="FFA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1138363" y="7301300"/>
              <a:ext cx="76200" cy="254100"/>
            </a:xfrm>
            <a:prstGeom prst="rect">
              <a:avLst/>
            </a:prstGeom>
            <a:solidFill>
              <a:srgbClr val="FFA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1322513" y="7301300"/>
              <a:ext cx="76200" cy="254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1506663" y="7301300"/>
              <a:ext cx="76200" cy="254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1690813" y="7263200"/>
              <a:ext cx="76200" cy="330300"/>
            </a:xfrm>
            <a:prstGeom prst="rect">
              <a:avLst/>
            </a:prstGeom>
            <a:solidFill>
              <a:srgbClr val="964B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" name="Google Shape;127;p13"/>
          <p:cNvGrpSpPr/>
          <p:nvPr/>
        </p:nvGrpSpPr>
        <p:grpSpPr>
          <a:xfrm>
            <a:off x="3081488" y="7263200"/>
            <a:ext cx="1397100" cy="330300"/>
            <a:chOff x="3081488" y="7263200"/>
            <a:chExt cx="1397100" cy="330300"/>
          </a:xfrm>
        </p:grpSpPr>
        <p:sp>
          <p:nvSpPr>
            <p:cNvPr id="128" name="Google Shape;128;p13"/>
            <p:cNvSpPr/>
            <p:nvPr/>
          </p:nvSpPr>
          <p:spPr>
            <a:xfrm>
              <a:off x="3081488" y="7402900"/>
              <a:ext cx="254100" cy="507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224488" y="7402900"/>
              <a:ext cx="254100" cy="507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271988" y="7263200"/>
              <a:ext cx="355500" cy="330300"/>
            </a:xfrm>
            <a:prstGeom prst="ellipse">
              <a:avLst/>
            </a:prstGeom>
            <a:solidFill>
              <a:srgbClr val="4FB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3932388" y="7263200"/>
              <a:ext cx="355500" cy="330300"/>
            </a:xfrm>
            <a:prstGeom prst="ellipse">
              <a:avLst/>
            </a:prstGeom>
            <a:solidFill>
              <a:srgbClr val="4FB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3449788" y="7301300"/>
              <a:ext cx="660300" cy="254100"/>
            </a:xfrm>
            <a:prstGeom prst="rect">
              <a:avLst/>
            </a:prstGeom>
            <a:solidFill>
              <a:srgbClr val="4FB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3373588" y="7263200"/>
              <a:ext cx="76200" cy="3303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57738" y="7301300"/>
              <a:ext cx="76200" cy="254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741888" y="7301300"/>
              <a:ext cx="76200" cy="254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3926038" y="7301300"/>
              <a:ext cx="76200" cy="254100"/>
            </a:xfrm>
            <a:prstGeom prst="rect">
              <a:avLst/>
            </a:prstGeom>
            <a:solidFill>
              <a:srgbClr val="964B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4110188" y="7263200"/>
              <a:ext cx="76200" cy="330300"/>
            </a:xfrm>
            <a:prstGeom prst="rect">
              <a:avLst/>
            </a:prstGeom>
            <a:solidFill>
              <a:srgbClr val="964B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" name="Google Shape;138;p13"/>
          <p:cNvGrpSpPr/>
          <p:nvPr/>
        </p:nvGrpSpPr>
        <p:grpSpPr>
          <a:xfrm>
            <a:off x="5881863" y="6933000"/>
            <a:ext cx="444600" cy="889000"/>
            <a:chOff x="5881863" y="6933000"/>
            <a:chExt cx="444600" cy="889000"/>
          </a:xfrm>
        </p:grpSpPr>
        <p:sp>
          <p:nvSpPr>
            <p:cNvPr id="139" name="Google Shape;139;p13"/>
            <p:cNvSpPr/>
            <p:nvPr/>
          </p:nvSpPr>
          <p:spPr>
            <a:xfrm>
              <a:off x="5881863" y="7669600"/>
              <a:ext cx="50700" cy="1269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6275563" y="7669600"/>
              <a:ext cx="50700" cy="1269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5973938" y="7669600"/>
              <a:ext cx="38100" cy="152400"/>
            </a:xfrm>
            <a:prstGeom prst="rect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6085063" y="7669600"/>
              <a:ext cx="38100" cy="152400"/>
            </a:xfrm>
            <a:prstGeom prst="rect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196188" y="7669600"/>
              <a:ext cx="38100" cy="152400"/>
            </a:xfrm>
            <a:prstGeom prst="rect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6015213" y="6933000"/>
              <a:ext cx="177900" cy="5079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5881863" y="7390200"/>
              <a:ext cx="444600" cy="2793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5881863" y="7390200"/>
              <a:ext cx="444600" cy="507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 txBox="1"/>
            <p:nvPr/>
          </p:nvSpPr>
          <p:spPr>
            <a:xfrm>
              <a:off x="5881863" y="7441000"/>
              <a:ext cx="444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00">
                  <a:solidFill>
                    <a:srgbClr val="FFFFFF"/>
                  </a:solidFill>
                </a:rPr>
                <a:t>50K</a:t>
              </a:r>
              <a:endParaRPr b="1" sz="700">
                <a:solidFill>
                  <a:srgbClr val="FFFFFF"/>
                </a:solidFill>
              </a:endParaRPr>
            </a:p>
          </p:txBody>
        </p:sp>
      </p:grpSp>
      <p:grpSp>
        <p:nvGrpSpPr>
          <p:cNvPr id="148" name="Google Shape;148;p13"/>
          <p:cNvGrpSpPr/>
          <p:nvPr/>
        </p:nvGrpSpPr>
        <p:grpSpPr>
          <a:xfrm>
            <a:off x="1043113" y="8865675"/>
            <a:ext cx="444600" cy="889000"/>
            <a:chOff x="1043113" y="8865675"/>
            <a:chExt cx="444600" cy="889000"/>
          </a:xfrm>
        </p:grpSpPr>
        <p:sp>
          <p:nvSpPr>
            <p:cNvPr id="149" name="Google Shape;149;p13"/>
            <p:cNvSpPr/>
            <p:nvPr/>
          </p:nvSpPr>
          <p:spPr>
            <a:xfrm>
              <a:off x="1043113" y="9602275"/>
              <a:ext cx="50700" cy="1269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1436813" y="9602275"/>
              <a:ext cx="50700" cy="1269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1135188" y="9602275"/>
              <a:ext cx="38100" cy="152400"/>
            </a:xfrm>
            <a:prstGeom prst="rect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1246313" y="9602275"/>
              <a:ext cx="38100" cy="152400"/>
            </a:xfrm>
            <a:prstGeom prst="rect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1357438" y="9602275"/>
              <a:ext cx="38100" cy="152400"/>
            </a:xfrm>
            <a:prstGeom prst="rect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1176463" y="8865675"/>
              <a:ext cx="177900" cy="5079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1043113" y="9322875"/>
              <a:ext cx="444600" cy="2793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1043113" y="9322875"/>
              <a:ext cx="444600" cy="507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 txBox="1"/>
            <p:nvPr/>
          </p:nvSpPr>
          <p:spPr>
            <a:xfrm>
              <a:off x="1043113" y="9373675"/>
              <a:ext cx="444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00">
                  <a:solidFill>
                    <a:srgbClr val="FFFFFF"/>
                  </a:solidFill>
                </a:rPr>
                <a:t>10K</a:t>
              </a:r>
              <a:endParaRPr b="1" sz="700">
                <a:solidFill>
                  <a:srgbClr val="FFFFFF"/>
                </a:solidFill>
              </a:endParaRPr>
            </a:p>
          </p:txBody>
        </p:sp>
      </p:grpSp>
      <p:grpSp>
        <p:nvGrpSpPr>
          <p:cNvPr id="158" name="Google Shape;158;p13"/>
          <p:cNvGrpSpPr/>
          <p:nvPr/>
        </p:nvGrpSpPr>
        <p:grpSpPr>
          <a:xfrm>
            <a:off x="3500588" y="9132375"/>
            <a:ext cx="406300" cy="457300"/>
            <a:chOff x="3500588" y="9132375"/>
            <a:chExt cx="406300" cy="457300"/>
          </a:xfrm>
        </p:grpSpPr>
        <p:sp>
          <p:nvSpPr>
            <p:cNvPr id="159" name="Google Shape;159;p13"/>
            <p:cNvSpPr/>
            <p:nvPr/>
          </p:nvSpPr>
          <p:spPr>
            <a:xfrm>
              <a:off x="3500588" y="9487975"/>
              <a:ext cx="50700" cy="1017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3856188" y="9487975"/>
              <a:ext cx="50700" cy="1017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40288" y="9132375"/>
              <a:ext cx="126900" cy="2541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3525988" y="9386375"/>
              <a:ext cx="355500" cy="101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13"/>
          <p:cNvSpPr/>
          <p:nvPr/>
        </p:nvSpPr>
        <p:spPr>
          <a:xfrm>
            <a:off x="5881875" y="9621078"/>
            <a:ext cx="67200" cy="1113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"/>
          <p:cNvSpPr/>
          <p:nvPr/>
        </p:nvSpPr>
        <p:spPr>
          <a:xfrm>
            <a:off x="6403333" y="9621078"/>
            <a:ext cx="67200" cy="1113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6003829" y="9621078"/>
            <a:ext cx="50400" cy="133500"/>
          </a:xfrm>
          <a:prstGeom prst="rect">
            <a:avLst/>
          </a:prstGeom>
          <a:solidFill>
            <a:srgbClr val="55555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"/>
          <p:cNvSpPr/>
          <p:nvPr/>
        </p:nvSpPr>
        <p:spPr>
          <a:xfrm>
            <a:off x="6151014" y="9621078"/>
            <a:ext cx="50400" cy="133500"/>
          </a:xfrm>
          <a:prstGeom prst="rect">
            <a:avLst/>
          </a:prstGeom>
          <a:solidFill>
            <a:srgbClr val="55555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"/>
          <p:cNvSpPr/>
          <p:nvPr/>
        </p:nvSpPr>
        <p:spPr>
          <a:xfrm>
            <a:off x="6298200" y="9621078"/>
            <a:ext cx="50400" cy="133500"/>
          </a:xfrm>
          <a:prstGeom prst="rect">
            <a:avLst/>
          </a:prstGeom>
          <a:solidFill>
            <a:srgbClr val="55555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6089750" y="8975350"/>
            <a:ext cx="184200" cy="4452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5881875" y="9376147"/>
            <a:ext cx="588900" cy="444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"/>
          <p:cNvSpPr txBox="1"/>
          <p:nvPr/>
        </p:nvSpPr>
        <p:spPr>
          <a:xfrm>
            <a:off x="5881875" y="9420679"/>
            <a:ext cx="588900" cy="200400"/>
          </a:xfrm>
          <a:prstGeom prst="rect">
            <a:avLst/>
          </a:prstGeom>
          <a:solidFill>
            <a:srgbClr val="4FB2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" name="Google Shape;175;p14"/>
          <p:cNvGraphicFramePr/>
          <p:nvPr/>
        </p:nvGraphicFramePr>
        <p:xfrm>
          <a:off x="150925" y="43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{606CFCEC-2352-4FE9-9010-3EB8D92D55AB}</a:tableStyleId>
              </a:tblPr>
              <a:tblGrid>
                <a:gridCol w="2419375"/>
                <a:gridCol w="2419375"/>
                <a:gridCol w="2419375"/>
              </a:tblGrid>
              <a:tr h="200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8Pin</a:t>
                      </a:r>
                      <a:endParaRPr b="1" sz="8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OP AMP</a:t>
                      </a:r>
                      <a:endParaRPr b="1" sz="8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1</a:t>
                      </a:r>
                      <a:endParaRPr b="1" sz="8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MCP6002</a:t>
                      </a:r>
                      <a:endParaRPr b="1" sz="8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0000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Check you get it the right way round - line up the semi circle.</a:t>
                      </a:r>
                      <a:endParaRPr b="1" sz="8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Arduino Nano</a:t>
                      </a:r>
                      <a:endParaRPr b="1" sz="8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</a:t>
                      </a:r>
                      <a:endParaRPr b="1" sz="8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1</a:t>
                      </a:r>
                      <a:endParaRPr b="1" sz="8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</a:t>
                      </a:r>
                      <a:endParaRPr b="1" sz="8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8x8 LED Matrix</a:t>
                      </a:r>
                      <a:endParaRPr b="1" sz="8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</a:t>
                      </a:r>
                      <a:endParaRPr b="1" sz="8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1</a:t>
                      </a:r>
                      <a:endParaRPr b="1" sz="8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</a:t>
                      </a:r>
                      <a:endParaRPr b="1" sz="8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rgbClr val="FF0000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Solder the wires, onto the board and put three pieces of foam underneath to hold it against the screen.</a:t>
                      </a:r>
                      <a:endParaRPr b="1" sz="8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  <a:tr h="193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Type: USB socket</a:t>
                      </a:r>
                      <a:endParaRPr b="1" sz="8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Ref: JST PH2.0 connector</a:t>
                      </a:r>
                      <a:endParaRPr b="1" sz="8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Qty: 1</a:t>
                      </a:r>
                      <a:endParaRPr b="1" sz="8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Val: </a:t>
                      </a:r>
                      <a:endParaRPr b="1" sz="8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>
                          <a:solidFill>
                            <a:srgbClr val="FF0000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Test the circuit using the USB on the Arduino. If it works, collect one of these, pop it into the front panel and plug it in.</a:t>
                      </a:r>
                      <a:endParaRPr b="1" sz="800">
                        <a:solidFill>
                          <a:srgbClr val="FF0000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  <a:tr h="193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  <a:tr h="193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  <a:tr h="193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6" name="Google Shape;176;p14"/>
          <p:cNvSpPr txBox="1"/>
          <p:nvPr/>
        </p:nvSpPr>
        <p:spPr>
          <a:xfrm>
            <a:off x="77100" y="-1"/>
            <a:ext cx="740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highlight>
                  <a:schemeClr val="dk1"/>
                </a:highlight>
                <a:latin typeface="Comfortaa"/>
                <a:ea typeface="Comfortaa"/>
                <a:cs typeface="Comfortaa"/>
                <a:sym typeface="Comfortaa"/>
              </a:rPr>
              <a:t>Bill of Materials: Prioritron Ver 2.0</a:t>
            </a:r>
            <a:endParaRPr b="1" sz="2000">
              <a:solidFill>
                <a:schemeClr val="lt1"/>
              </a:solidFill>
              <a:highlight>
                <a:schemeClr val="dk1"/>
              </a:highlight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177" name="Google Shape;177;p14"/>
          <p:cNvGrpSpPr/>
          <p:nvPr/>
        </p:nvGrpSpPr>
        <p:grpSpPr>
          <a:xfrm>
            <a:off x="852613" y="1388075"/>
            <a:ext cx="749300" cy="558900"/>
            <a:chOff x="852613" y="1388075"/>
            <a:chExt cx="749300" cy="558900"/>
          </a:xfrm>
        </p:grpSpPr>
        <p:sp>
          <p:nvSpPr>
            <p:cNvPr id="178" name="Google Shape;178;p14"/>
            <p:cNvSpPr/>
            <p:nvPr/>
          </p:nvSpPr>
          <p:spPr>
            <a:xfrm>
              <a:off x="1005013" y="1388075"/>
              <a:ext cx="50700" cy="1779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1005013" y="1769075"/>
              <a:ext cx="50700" cy="1779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1157413" y="1388075"/>
              <a:ext cx="50700" cy="1779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1157413" y="1769075"/>
              <a:ext cx="50700" cy="1779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1309813" y="1388075"/>
              <a:ext cx="50700" cy="1779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1309813" y="1769075"/>
              <a:ext cx="50700" cy="1779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1462213" y="1388075"/>
              <a:ext cx="50700" cy="1779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1462213" y="1769075"/>
              <a:ext cx="50700" cy="1779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916113" y="1451575"/>
              <a:ext cx="685800" cy="431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852613" y="1591275"/>
              <a:ext cx="152400" cy="1524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966913" y="1781775"/>
              <a:ext cx="50700" cy="507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 txBox="1"/>
            <p:nvPr/>
          </p:nvSpPr>
          <p:spPr>
            <a:xfrm>
              <a:off x="916113" y="1553175"/>
              <a:ext cx="685800" cy="33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00">
                  <a:solidFill>
                    <a:srgbClr val="FFFFFF"/>
                  </a:solidFill>
                </a:rPr>
                <a:t>MCP6002</a:t>
              </a:r>
              <a:endParaRPr b="1" sz="600">
                <a:solidFill>
                  <a:srgbClr val="FFFFFF"/>
                </a:solidFill>
              </a:endParaRPr>
            </a:p>
          </p:txBody>
        </p:sp>
      </p:grpSp>
      <p:pic>
        <p:nvPicPr>
          <p:cNvPr id="190" name="Google Shape;19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2200" y="1388075"/>
            <a:ext cx="1115672" cy="974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4"/>
          <p:cNvPicPr preferRelativeResize="0"/>
          <p:nvPr/>
        </p:nvPicPr>
        <p:blipFill rotWithShape="1">
          <a:blip r:embed="rId4">
            <a:alphaModFix/>
          </a:blip>
          <a:srcRect b="30982" l="36221" r="33628" t="0"/>
          <a:stretch/>
        </p:blipFill>
        <p:spPr>
          <a:xfrm rot="5400000">
            <a:off x="3331262" y="1045937"/>
            <a:ext cx="811600" cy="182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5950" y="3458050"/>
            <a:ext cx="811575" cy="8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" name="Google Shape;197;p15"/>
          <p:cNvGraphicFramePr/>
          <p:nvPr/>
        </p:nvGraphicFramePr>
        <p:xfrm>
          <a:off x="205050" y="48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{606CFCEC-2352-4FE9-9010-3EB8D92D55AB}</a:tableStyleId>
              </a:tblPr>
              <a:tblGrid>
                <a:gridCol w="1289050"/>
                <a:gridCol w="1386825"/>
                <a:gridCol w="899075"/>
                <a:gridCol w="3536350"/>
              </a:tblGrid>
              <a:tr h="6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Reference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Value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Number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Notes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8" name="Google Shape;198;p15"/>
          <p:cNvSpPr txBox="1"/>
          <p:nvPr/>
        </p:nvSpPr>
        <p:spPr>
          <a:xfrm>
            <a:off x="205050" y="-1"/>
            <a:ext cx="740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Additional Components</a:t>
            </a:r>
            <a:endParaRPr b="1" sz="2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Google Shape;203;p16"/>
          <p:cNvGraphicFramePr/>
          <p:nvPr/>
        </p:nvGraphicFramePr>
        <p:xfrm>
          <a:off x="113300" y="42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{241E79A8-1AB0-4665-A148-D0D1B94522D7}</a:tableStyleId>
              </a:tblPr>
              <a:tblGrid>
                <a:gridCol w="910100"/>
                <a:gridCol w="910100"/>
                <a:gridCol w="910100"/>
                <a:gridCol w="1701900"/>
                <a:gridCol w="27030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Reference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Number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Value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Type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Notes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100nF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5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100nF (104)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Ceramic Capacitor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10nF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10nF (103)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Ceramic Capacitor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100uF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100uF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Electrolytic Capacitor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4.7nF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4.7nF (472)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Ceramic Capacitor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10uF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2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10uF (106)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Monolithic Capacitor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Clock_IN, Clock_OUT, Audio Out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3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Jack Socket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jack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JST 2P JST PH 2.0 Female 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JST 2P JST PH 2.0 Female 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JST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100K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100K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Resistor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10K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6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10K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Resistor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330R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2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330R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Resistor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2K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5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2K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Resistor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50K Pot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2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50K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RK097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10K Pot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10K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RK097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12x12 Tactile Switch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12x12 Tactile Switch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tactile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RotaryEncoder_Switch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RK097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OP AMP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MCP6002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8Pin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15x1 Female Header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2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15 Pin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0000"/>
                          </a:solidFill>
                        </a:rPr>
                        <a:t>For Arduino </a:t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8 Pin Dip Socket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1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Arduino Nano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Most common variant with ATMega 328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0000"/>
                          </a:solidFill>
                        </a:rPr>
                        <a:t>Arduino Nano with AtMega 168 will not work </a:t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USB Socket with JST Ph2.0</a:t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/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16"/>
          <p:cNvSpPr txBox="1"/>
          <p:nvPr/>
        </p:nvSpPr>
        <p:spPr>
          <a:xfrm>
            <a:off x="205050" y="-1"/>
            <a:ext cx="740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Full BOM</a:t>
            </a:r>
            <a:endParaRPr b="1" sz="2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 txBox="1"/>
          <p:nvPr>
            <p:ph type="title"/>
          </p:nvPr>
        </p:nvSpPr>
        <p:spPr>
          <a:xfrm>
            <a:off x="257705" y="903288"/>
            <a:ext cx="70446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"/>
          <p:cNvSpPr txBox="1"/>
          <p:nvPr>
            <p:ph idx="1" type="body"/>
          </p:nvPr>
        </p:nvSpPr>
        <p:spPr>
          <a:xfrm>
            <a:off x="257705" y="2339232"/>
            <a:ext cx="7044600" cy="6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